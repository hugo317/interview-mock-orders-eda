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3987E5"/>
                </a:solidFill>
                <a:latin typeface="Arial"/>
              </a:rPr>
              <a:t>VARDANE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Customer &amp; Profitability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96596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14884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9C9C4"/>
                </a:solidFill>
                <a:latin typeface="Arial"/>
              </a:rPr>
              <a:t>Growth · Free Shipping · High-Value Customers · Loyalty · Country Profitability · Cost Leaks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89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A8A86"/>
                </a:solidFill>
                <a:latin typeface="Arial"/>
              </a:rPr>
              <a:t>Order-level data review  |  682,792 orders, 2 years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Six questions, six opportunities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685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987E5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92807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Business trajectory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1911095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9C4"/>
                </a:solidFill>
                <a:latin typeface="Arial"/>
              </a:rPr>
              <a:t>Are we still growing the way the headline number suggests?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96311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596895"/>
            <a:ext cx="685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5926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15183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Free shipping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33471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9C4"/>
                </a:solidFill>
                <a:latin typeface="Arial"/>
              </a:rPr>
              <a:t>Is our biggest shipping perk quietly eating profit?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218687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19271"/>
            <a:ext cx="685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CA30C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37559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High-value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3355847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9C4"/>
                </a:solidFill>
                <a:latin typeface="Arial"/>
              </a:rPr>
              <a:t>Who are our best customers, and are we finding enough of them?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41063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41647"/>
            <a:ext cx="685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3987E5"/>
                </a:solidFill>
                <a:latin typeface="Arial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59935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Loyalty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078223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9C4"/>
                </a:solidFill>
                <a:latin typeface="Arial"/>
              </a:rPr>
              <a:t>Why do so few customers come back — and does it matter?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63439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64023"/>
            <a:ext cx="685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D95926"/>
                </a:solidFill>
                <a:latin typeface="Arial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782311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Country profitability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800599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9C4"/>
                </a:solidFill>
                <a:latin typeface="Arial"/>
              </a:rPr>
              <a:t>Which markets need a pricing fix vs. a cost fix?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385815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86399"/>
            <a:ext cx="685800" cy="7223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66767"/>
                </a:solidFill>
                <a:latin typeface="Arial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504687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Arial"/>
              </a:rPr>
              <a:t>Order-level cost leaks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522975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9C4"/>
                </a:solidFill>
                <a:latin typeface="Arial"/>
              </a:rPr>
              <a:t>Are any orders actually losing us money?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DATA &amp; HEADLINE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600" b="1" i="0">
                <a:solidFill>
                  <a:srgbClr val="FFFFFF"/>
                </a:solidFill>
                <a:latin typeface="Arial"/>
              </a:rPr>
              <a:t>The business roughly tripled in two years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755648" cy="14173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1755648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2093975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$271.7M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60903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9C4"/>
                </a:solidFill>
                <a:latin typeface="Arial"/>
              </a:rPr>
              <a:t>Revenue, last 12 months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874519"/>
            <a:ext cx="1755648" cy="14173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68880" y="1874519"/>
            <a:ext cx="1755648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2093975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$171.1M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896" y="2660903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9C4"/>
                </a:solidFill>
                <a:latin typeface="Arial"/>
              </a:rPr>
              <a:t>Profit, last 12 months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874519"/>
            <a:ext cx="1755648" cy="14173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1755648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093975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512,658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660903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9C4"/>
                </a:solidFill>
                <a:latin typeface="Arial"/>
              </a:rPr>
              <a:t>Orders, last 12 months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874519"/>
            <a:ext cx="1755648" cy="14173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874519"/>
            <a:ext cx="1755648" cy="3810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093975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+168%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660903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9C4"/>
                </a:solidFill>
                <a:latin typeface="Arial"/>
              </a:rPr>
              <a:t>Orders, YoY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874519"/>
            <a:ext cx="1755648" cy="14173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874519"/>
            <a:ext cx="1755648" cy="3810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2093975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+210%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7616" y="2660903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9C4"/>
                </a:solidFill>
                <a:latin typeface="Arial"/>
              </a:rPr>
              <a:t>Revenue, YoY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0" y="1874519"/>
            <a:ext cx="1755648" cy="14173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149840" y="1874519"/>
            <a:ext cx="1755648" cy="38100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77856" y="2093975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+219%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77856" y="2660903"/>
            <a:ext cx="149961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C9C9C4"/>
                </a:solidFill>
                <a:latin typeface="Arial"/>
              </a:rPr>
              <a:t>Profit, YoY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703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A8A86"/>
                </a:solidFill>
                <a:latin typeface="Arial"/>
              </a:rPr>
              <a:t>Full dataset: 682,792 orders · 577,950 customers · Oct 2018 – Oct 2020 · Profit = order value × margin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91672" cy="169164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553712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0" sz="1300">
                <a:solidFill>
                  <a:srgbClr val="C9C9C4"/>
                </a:solidFill>
                <a:latin typeface="Arial"/>
              </a:rPr>
              <a:t>Six questions we asked of the order data, what we found, and — where the data supports it — what closing the gap could be worth.</a:t>
            </a:r>
          </a:p>
          <a:p>
            <a:pPr>
              <a:spcBef>
                <a:spcPts val="1400"/>
              </a:spcBef>
            </a:pPr>
            <a:r>
              <a:rPr b="1" sz="1300">
                <a:solidFill>
                  <a:srgbClr val="D95926"/>
                </a:solidFill>
                <a:latin typeface="Arial"/>
              </a:rPr>
              <a:t>NOTE  </a:t>
            </a:r>
            <a:r>
              <a:rPr b="0" sz="1300">
                <a:solidFill>
                  <a:srgbClr val="C9C9C4"/>
                </a:solidFill>
                <a:latin typeface="Arial"/>
              </a:rPr>
              <a:t>Where a number is a projection rather than an observed result, it is labeled illustrative — sized from today's data, not a forecast.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A3A3A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Business Trajectory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987E5"/>
                </a:solidFill>
                <a:latin typeface="Arial"/>
              </a:rPr>
              <a:t>Is the business still growing the way the headline number suggests?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1 OF 6 — BUSINESS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Revenue nearly tripled in two years — then decelerated sharply last quarter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1_quarterly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39694"/>
            <a:ext cx="7086600" cy="389301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+210%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Revenue growth, year over year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SETUP  </a:t>
            </a:r>
            <a:r>
              <a:rPr b="0" sz="1100">
                <a:solidFill>
                  <a:srgbClr val="C9C9C4"/>
                </a:solidFill>
                <a:latin typeface="Arial"/>
              </a:rPr>
              <a:t>Orders/revenue grew almost every quarter since launch, peaking at +119% QoQ in 2020 Q2.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CONFLICT  </a:t>
            </a:r>
            <a:r>
              <a:rPr b="0" sz="1100">
                <a:solidFill>
                  <a:srgbClr val="C9C9C4"/>
                </a:solidFill>
                <a:latin typeface="Arial"/>
              </a:rPr>
              <a:t>2020 Q3 broke the pattern: -14.9% QoQ, the first real deceleration in the dataset.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1 OF 6 — BUSINESS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The slowdown isn't a warning sign — newer customers are more loyal, not less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2_cohort_repea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359" y="1920240"/>
            <a:ext cx="5109161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+38%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Average order value, Jan 2019 → Oct 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RESOLUTION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2020's COVID-surge cohorts repeat at 10.5–12.3% (90-day), vs. 7.3–9.8% pre-2020.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RESOLUTION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New-customer share of monthly orders is still 78–83% in the last six months.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1 OF 6 — BUSINESS TRAJECTORY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0" sz="1400">
                <a:solidFill>
                  <a:srgbClr val="C9C9C4"/>
                </a:solidFill>
                <a:latin typeface="Arial"/>
              </a:rPr>
              <a:t>Read Q3's dip as deceleration off an anomalous COVID spike, not a structural problem — cohort quality and acquisition volume both remain healthy.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 </a:t>
            </a:r>
            <a:r>
              <a:rPr b="0" sz="1400">
                <a:solidFill>
                  <a:srgbClr val="C9C9C4"/>
                </a:solidFill>
                <a:latin typeface="Arial"/>
              </a:rPr>
              <a:t>Watch Q4 close before reading anything structural into one quarter.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8A8A86"/>
                </a:solidFill>
                <a:latin typeface="Arial"/>
              </a:rPr>
              <a:t>CAVEAT  </a:t>
            </a:r>
            <a:r>
              <a:rPr b="0" sz="1400">
                <a:solidFill>
                  <a:srgbClr val="C9C9C4"/>
                </a:solidFill>
                <a:latin typeface="Arial"/>
              </a:rPr>
              <a:t>Seasonality is not confirmed — only one full clean year of data exists, and the 2019 pattern didn't repeat in 2020.</a:t>
            </a:r>
          </a:p>
        </p:txBody>
      </p:sp>
      <p:pic>
        <p:nvPicPr>
          <p:cNvPr id="6" name="Picture 5" descr="wave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A3A3A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Free Shipping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987E5"/>
                </a:solidFill>
                <a:latin typeface="Arial"/>
              </a:rPr>
              <a:t>Is our biggest shipping perk quietly costing us profit?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2 OF 6 — FREE SHIPPING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A profit dip for mid-weight orders is a product-mix effect, not a shipping-cost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band_vs_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38" y="1920240"/>
            <a:ext cx="6368602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r = 0.02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Weight-vs-value correlation, inside the 800–1200g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SETUP  </a:t>
            </a:r>
            <a:r>
              <a:rPr b="0" sz="1100">
                <a:solidFill>
                  <a:srgbClr val="C9C9C4"/>
                </a:solidFill>
                <a:latin typeface="Arial"/>
              </a:rPr>
              <a:t>Profit per order dips visibly for 800–1200g orders — the instinct is that free shipping is costing us here.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CONFLICT  </a:t>
            </a:r>
            <a:r>
              <a:rPr b="0" sz="1100">
                <a:solidFill>
                  <a:srgbClr val="C9C9C4"/>
                </a:solidFill>
                <a:latin typeface="Arial"/>
              </a:rPr>
              <a:t>Weight and value correlate strongly overall (r=0.72), but that link vanishes inside the band (r=0.02).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RESOLUTION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One standardized ~1,158g product (99.9% free-shipped) drives the dip. Paid and free orders both keep normal profit inside the band.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2 OF 6 — FREE SHIPPING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Free-shipping orders are worth 2.8x more — but we can't yet prove offering it creates that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5_paid_vs_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38" y="1920240"/>
            <a:ext cx="6368602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2.8x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Avg. profit per order, free vs. paid shipping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STRONG SIGNAL  </a:t>
            </a:r>
            <a:r>
              <a:rPr b="0" sz="1100">
                <a:solidFill>
                  <a:srgbClr val="C9C9C4"/>
                </a:solidFill>
                <a:latin typeface="Arial"/>
              </a:rPr>
              <a:t>Correlation is consistent across every cut of the data.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CAUTION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Our one causal test (before/after first free order, rate-normalized) found no lift in purchase frequency — a small, likely-noisy decline instead.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2 OF 6 — FREE SHIPPING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 </a:t>
            </a:r>
            <a:r>
              <a:rPr b="0" sz="1400">
                <a:solidFill>
                  <a:srgbClr val="C9C9C4"/>
                </a:solidFill>
                <a:latin typeface="Arial"/>
              </a:rPr>
              <a:t>Run a controlled A/B test on the free-shipping spend threshold before investing in a conversion campaign.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E66767"/>
                </a:solidFill>
                <a:latin typeface="Arial"/>
              </a:rPr>
              <a:t>DON'T  </a:t>
            </a:r>
            <a:r>
              <a:rPr b="0" sz="1400">
                <a:solidFill>
                  <a:srgbClr val="C9C9C4"/>
                </a:solidFill>
                <a:latin typeface="Arial"/>
              </a:rPr>
              <a:t>Don't roll out a conversion push on correlation alone — the one causal test we have didn't confirm it.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8A8A86"/>
                </a:solidFill>
                <a:latin typeface="Arial"/>
              </a:rPr>
              <a:t>IF VALIDATED  </a:t>
            </a:r>
            <a:r>
              <a:rPr b="0" sz="1400">
                <a:solidFill>
                  <a:srgbClr val="C9C9C4"/>
                </a:solidFill>
                <a:latin typeface="Arial"/>
              </a:rPr>
              <a:t>Converting 20% of paid-shipping orders would be worth an estimated $12.2M — unvalidated, see appendix.</a:t>
            </a:r>
          </a:p>
        </p:txBody>
      </p:sp>
      <p:pic>
        <p:nvPicPr>
          <p:cNvPr id="6" name="Picture 5" descr="wave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A3A3A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High-Value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987E5"/>
                </a:solidFill>
                <a:latin typeface="Arial"/>
              </a:rPr>
              <a:t>Who are our best customers, and are we finding enough of them?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3 OF 6 — HIGH-VALUE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10% of customers generate a third of all profit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hv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92231"/>
            <a:ext cx="7086600" cy="37879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3.2x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Lifetime value of a top-10% customer vs. average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SETUP  </a:t>
            </a:r>
            <a:r>
              <a:rPr b="0" sz="1100">
                <a:solidFill>
                  <a:srgbClr val="C9C9C4"/>
                </a:solidFill>
                <a:latin typeface="Arial"/>
              </a:rPr>
              <a:t>Top 10% of customers by lifetime spend (≥$1,202) drive 32.4% of revenue and profit.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CONTEXT  </a:t>
            </a:r>
            <a:r>
              <a:rPr b="0" sz="1100">
                <a:solidFill>
                  <a:srgbClr val="C9C9C4"/>
                </a:solidFill>
                <a:latin typeface="Arial"/>
              </a:rPr>
              <a:t>Gini of 0.437 — moderate concentration. Top 1% hold only ~7% of profit, so there's no whale-dependency risk.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3 OF 6 — HIGH-VALUE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Where we win and lose high-value customers doesn't track GDP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7_gdp_resi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4" y="1920240"/>
            <a:ext cx="6570971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+11.0pp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US high-value rate vs. GDP-predicted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CONFLICT  </a:t>
            </a:r>
            <a:r>
              <a:rPr b="0" sz="1100">
                <a:solidFill>
                  <a:srgbClr val="C9C9C4"/>
                </a:solidFill>
                <a:latin typeface="Arial"/>
              </a:rPr>
              <a:t>US converts to high-value at ~2x what its wealth predicts — the biggest outlier.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CONFLICT  </a:t>
            </a:r>
            <a:r>
              <a:rPr b="0" sz="1100">
                <a:solidFill>
                  <a:srgbClr val="C9C9C4"/>
                </a:solidFill>
                <a:latin typeface="Arial"/>
              </a:rPr>
              <a:t>Norway, Finland, Sweden, Netherlands all under-convert relative to GDP — Norway worst despite highest GDP in the group.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RESOLUTION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Timing and margin are identical between HV and regular customers — this is a basket-building story, not retention.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3 OF 6 — HIGH-VALUE CUSTOMERS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3987E5"/>
                </a:solidFill>
                <a:latin typeface="Arial"/>
              </a:rPr>
              <a:t>$5.8M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791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Illustrative profit opportunity — Nordics at GDP-expected HV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 </a:t>
            </a:r>
            <a:r>
              <a:rPr b="0" sz="1400">
                <a:solidFill>
                  <a:srgbClr val="C9C9C4"/>
                </a:solidFill>
                <a:latin typeface="Arial"/>
              </a:rPr>
              <a:t>Run a targeted Nordic basket-building campaign — bundling, thresholds, merchandising.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E66767"/>
                </a:solidFill>
                <a:latin typeface="Arial"/>
              </a:rPr>
              <a:t>DON'T  </a:t>
            </a:r>
            <a:r>
              <a:rPr b="0" sz="1400">
                <a:solidFill>
                  <a:srgbClr val="C9C9C4"/>
                </a:solidFill>
                <a:latin typeface="Arial"/>
              </a:rPr>
              <a:t>Don't frame it as retention or loyalty — timing/margin data rules that out as the driver.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8A8A86"/>
                </a:solidFill>
                <a:latin typeface="Arial"/>
              </a:rPr>
              <a:t>CAVEAT  </a:t>
            </a:r>
            <a:r>
              <a:rPr b="0" sz="1400">
                <a:solidFill>
                  <a:srgbClr val="C9C9C4"/>
                </a:solidFill>
                <a:latin typeface="Arial"/>
              </a:rPr>
              <a:t>Illustrative sizing, not a piloted result — treat as scale of the opportunity, not a target.</a:t>
            </a:r>
          </a:p>
        </p:txBody>
      </p:sp>
      <p:pic>
        <p:nvPicPr>
          <p:cNvPr id="8" name="Picture 7" descr="wave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A3A3A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Loyalty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987E5"/>
                </a:solidFill>
                <a:latin typeface="Arial"/>
              </a:rPr>
              <a:t>Why do so few customers come back — and does it matter?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4 OF 6 — LOYALTY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Only 14.2% of customers ever place a second order — and it's not because orders get bigger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8_aov_by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92" y="1920240"/>
            <a:ext cx="6520895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14.2%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Share of customers who place a 2nd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SETUP  </a:t>
            </a:r>
            <a:r>
              <a:rPr b="0" sz="1100">
                <a:solidFill>
                  <a:srgbClr val="C9C9C4"/>
                </a:solidFill>
                <a:latin typeface="Arial"/>
              </a:rPr>
              <a:t>85.8% of customers buy exactly once. The real question: are repeat customers worth chasing?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CONFLICT  </a:t>
            </a:r>
            <a:r>
              <a:rPr b="0" sz="1100">
                <a:solidFill>
                  <a:srgbClr val="C9C9C4"/>
                </a:solidFill>
                <a:latin typeface="Arial"/>
              </a:rPr>
              <a:t>Order value drops 8.7% from a customer's 1st to 2nd order, then stays flat.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4 OF 6 — LOYALTY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Loyalty pays through frequency — a 4-order customer is worth 4.7x a one-timer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lifetime_value_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47" y="1920240"/>
            <a:ext cx="6717585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31920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2.17x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Repeat vs. one-time spend, 12 months after first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093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RESOLUTION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Lifetime value scales with order count, not basket size — 2nd order ≈ 2x value, 4th ≈ 4x.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0CA30C"/>
                </a:solidFill>
                <a:latin typeface="Arial"/>
              </a:rPr>
              <a:t>RESOLUTION  </a:t>
            </a:r>
            <a:r>
              <a:rPr b="0" sz="1100">
                <a:solidFill>
                  <a:srgbClr val="C9C9C4"/>
                </a:solidFill>
                <a:latin typeface="Arial"/>
              </a:rPr>
              <a:t>The repeat/one-time gap widens over time: 1.4x at first purchase, 2.2x by month 12.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4 OF 6 — LOYALTY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 </a:t>
            </a:r>
            <a:r>
              <a:rPr b="0" sz="1400">
                <a:solidFill>
                  <a:srgbClr val="C9C9C4"/>
                </a:solidFill>
                <a:latin typeface="Arial"/>
              </a:rPr>
              <a:t>Design a loyalty program around triggering the 2nd purchase specifically — a next-buy incentive.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E66767"/>
                </a:solidFill>
                <a:latin typeface="Arial"/>
              </a:rPr>
              <a:t>DON'T  </a:t>
            </a:r>
            <a:r>
              <a:rPr b="0" sz="1400">
                <a:solidFill>
                  <a:srgbClr val="C9C9C4"/>
                </a:solidFill>
                <a:latin typeface="Arial"/>
              </a:rPr>
              <a:t>Don't lead with basket-size upsell — the data says that's not how loyal customers behave.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8A8A86"/>
                </a:solidFill>
                <a:latin typeface="Arial"/>
              </a:rPr>
              <a:t>IF VALIDATED  </a:t>
            </a:r>
            <a:r>
              <a:rPr b="0" sz="1400">
                <a:solidFill>
                  <a:srgbClr val="C9C9C4"/>
                </a:solidFill>
                <a:latin typeface="Arial"/>
              </a:rPr>
              <a:t>A 25%-of-one-timers conversion scenario is worth up to $53.7M — an aggressive ceiling, see appendix.</a:t>
            </a:r>
          </a:p>
        </p:txBody>
      </p:sp>
      <p:pic>
        <p:nvPicPr>
          <p:cNvPr id="6" name="Picture 5" descr="wave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A3A3A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Country Profitability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987E5"/>
                </a:solidFill>
                <a:latin typeface="Arial"/>
              </a:rPr>
              <a:t>Which markets need a pricing fix vs. a cost fix?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5 OF 6 — COUNTRY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Profit margin swings 16.5 points by country — order-volume rankings hide it completely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0_country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2750"/>
            <a:ext cx="7086600" cy="36726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77639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54.4–70.9%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Margin range, top-15 markets (US low, DE high)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1396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SETUP  </a:t>
            </a:r>
            <a:r>
              <a:rPr b="0" sz="1100">
                <a:solidFill>
                  <a:srgbClr val="C9C9C4"/>
                </a:solidFill>
                <a:latin typeface="Arial"/>
              </a:rPr>
              <a:t>By volume, DE and SE look like the top two markets — and they are. Margin tells a different story.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CONFLICT  </a:t>
            </a:r>
            <a:r>
              <a:rPr b="0" sz="1100">
                <a:solidFill>
                  <a:srgbClr val="C9C9C4"/>
                </a:solidFill>
                <a:latin typeface="Arial"/>
              </a:rPr>
              <a:t>GB, US and CA all sit well below average margin despite being large, established markets.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5 OF 6 — COUNTRY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GB's problem is shipping economics — the US/CA problem is something else entirely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1_gb_freeship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2750"/>
            <a:ext cx="7086600" cy="367261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77639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48.6%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GB's free-shipping rate — lowest of any top-15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1396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INVESTIGATION  </a:t>
            </a:r>
            <a:r>
              <a:rPr b="0" sz="1100">
                <a:solidFill>
                  <a:srgbClr val="C9C9C4"/>
                </a:solidFill>
                <a:latin typeface="Arial"/>
              </a:rPr>
              <a:t>Shipping % of order value predicts profit-per-order (r=-0.73) but not margin % (r=0.08) — margin is a flat rate.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E66767"/>
                </a:solidFill>
                <a:latin typeface="Arial"/>
              </a:rPr>
              <a:t>GB  </a:t>
            </a:r>
            <a:r>
              <a:rPr b="0" sz="1100">
                <a:solidFill>
                  <a:srgbClr val="C9C9C4"/>
                </a:solidFill>
                <a:latin typeface="Arial"/>
              </a:rPr>
              <a:t>Free-shipping rate is 48.6% vs. 71–74% in DE/SE — a real, fixable gap.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D95926"/>
                </a:solidFill>
                <a:latin typeface="Arial"/>
              </a:rPr>
              <a:t>US / CA  </a:t>
            </a:r>
            <a:r>
              <a:rPr b="0" sz="1100">
                <a:solidFill>
                  <a:srgbClr val="C9C9C4"/>
                </a:solidFill>
                <a:latin typeface="Arial"/>
              </a:rPr>
              <a:t>Highest order values, lowest shipping-cost share, yet lowest margins — points at product mix, not shipping.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5 OF 6 — COUNTRY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54864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3987E5"/>
                </a:solidFill>
                <a:latin typeface="Arial"/>
              </a:rPr>
              <a:t>$4.6M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79192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GB profit uplift if its margin matched Germany's (+22.2%) — fully diagnosed, not a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— GB  </a:t>
            </a:r>
            <a:r>
              <a:rPr b="0" sz="1400">
                <a:solidFill>
                  <a:srgbClr val="C9C9C4"/>
                </a:solidFill>
                <a:latin typeface="Arial"/>
              </a:rPr>
              <a:t>Extend the free-shipping conversion push from Story 2, targeted at GB, and fix the margin baseline.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— US/CA  </a:t>
            </a:r>
            <a:r>
              <a:rPr b="0" sz="1400">
                <a:solidFill>
                  <a:srgbClr val="C9C9C4"/>
                </a:solidFill>
                <a:latin typeface="Arial"/>
              </a:rPr>
              <a:t>Commission a product-mix / cost-structure review — this dataset alone can't diagnose it further.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8A8A86"/>
                </a:solidFill>
                <a:latin typeface="Arial"/>
              </a:rPr>
              <a:t>NOTE  </a:t>
            </a:r>
            <a:r>
              <a:rPr b="0" sz="1400">
                <a:solidFill>
                  <a:srgbClr val="C9C9C4"/>
                </a:solidFill>
                <a:latin typeface="Arial"/>
              </a:rPr>
              <a:t>Two separate playbooks, not one universal fix.</a:t>
            </a:r>
          </a:p>
        </p:txBody>
      </p:sp>
      <p:pic>
        <p:nvPicPr>
          <p:cNvPr id="8" name="Picture 7" descr="wave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54480"/>
            <a:ext cx="3657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A3A3A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5146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Order-Level Cost Leaks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24612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4290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3987E5"/>
                </a:solidFill>
                <a:latin typeface="Arial"/>
              </a:rPr>
              <a:t>Are any orders actually losing us money?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6 OF 6 — ORDER-LEVEL COST LEAKS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There are no loss-making orders — but there is a heavy, near-zero-value cluster worth investigating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_weight_band_zero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39160"/>
            <a:ext cx="7086600" cy="373979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82127" y="1920240"/>
            <a:ext cx="3758184" cy="3977639"/>
          </a:xfrm>
          <a:prstGeom prst="rect">
            <a:avLst/>
          </a:prstGeom>
          <a:solidFill>
            <a:srgbClr val="1718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74735" y="2212848"/>
            <a:ext cx="317296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3987E5"/>
                </a:solidFill>
                <a:latin typeface="Arial"/>
              </a:rPr>
              <a:t>4.7x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74735" y="2962656"/>
            <a:ext cx="317296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C9C9C4"/>
                </a:solidFill>
                <a:latin typeface="Arial"/>
              </a:rPr>
              <a:t>Zero/near-zero orders' share of shipped weight vs. their share of 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74735" y="3529584"/>
            <a:ext cx="3172968" cy="21396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100">
                <a:solidFill>
                  <a:srgbClr val="FFFFFF"/>
                </a:solidFill>
                <a:latin typeface="Arial"/>
              </a:rPr>
              <a:t>SETUP  </a:t>
            </a:r>
            <a:r>
              <a:rPr b="0" sz="1100">
                <a:solidFill>
                  <a:srgbClr val="C9C9C4"/>
                </a:solidFill>
                <a:latin typeface="Arial"/>
              </a:rPr>
              <a:t>Minimum profit in the data is exactly $0.00 — margin never drops below 42%, so a negative-profit order is structurally impossible.</a:t>
            </a:r>
          </a:p>
          <a:p>
            <a:pPr>
              <a:spcBef>
                <a:spcPts val="1400"/>
              </a:spcBef>
            </a:pPr>
            <a:r>
              <a:rPr b="1" sz="1100">
                <a:solidFill>
                  <a:srgbClr val="D95926"/>
                </a:solidFill>
                <a:latin typeface="Arial"/>
              </a:rPr>
              <a:t>REAL SIGNAL  </a:t>
            </a:r>
            <a:r>
              <a:rPr b="0" sz="1100">
                <a:solidFill>
                  <a:srgbClr val="C9C9C4"/>
                </a:solidFill>
                <a:latin typeface="Arial"/>
              </a:rPr>
              <a:t>1.12% of orders (7,661) carry $0–25 profit and consume 4.68% of all shipped weight. Median weight: 3,173g vs. 192g typical.</a:t>
            </a:r>
          </a:p>
        </p:txBody>
      </p:sp>
      <p:pic>
        <p:nvPicPr>
          <p:cNvPr id="10" name="Picture 9" descr="wave_th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STORY 6 OF 6 — ORDER-LEVEL COST LEAKS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500" b="1" i="0">
                <a:solidFill>
                  <a:srgbClr val="FFFFFF"/>
                </a:solidFill>
                <a:latin typeface="Arial"/>
              </a:rPr>
              <a:t>Recommendation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42416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400">
                <a:solidFill>
                  <a:srgbClr val="3987E5"/>
                </a:solidFill>
                <a:latin typeface="Arial"/>
              </a:rPr>
              <a:t>DO  </a:t>
            </a:r>
            <a:r>
              <a:rPr b="0" sz="1400">
                <a:solidFill>
                  <a:srgbClr val="C9C9C4"/>
                </a:solidFill>
                <a:latin typeface="Arial"/>
              </a:rPr>
              <a:t>Pull a manual sample to identify the cause — free-shipped returns, warranty replacements, sample/wholesale orders, or a pricing override bug.</a:t>
            </a:r>
          </a:p>
          <a:p>
            <a:pPr>
              <a:spcBef>
                <a:spcPts val="1400"/>
              </a:spcBef>
            </a:pPr>
            <a:r>
              <a:rPr b="1" sz="1400">
                <a:solidFill>
                  <a:srgbClr val="8A8A86"/>
                </a:solidFill>
                <a:latin typeface="Arial"/>
              </a:rPr>
              <a:t>NOTE  </a:t>
            </a:r>
            <a:r>
              <a:rPr b="0" sz="1400">
                <a:solidFill>
                  <a:srgbClr val="C9C9C4"/>
                </a:solidFill>
                <a:latin typeface="Arial"/>
              </a:rPr>
              <a:t>Also flag to the data team: profit tracking is missing entirely for Oct 2018 – Jan 2019 — a data gap, not a real zero.</a:t>
            </a:r>
          </a:p>
        </p:txBody>
      </p:sp>
      <p:pic>
        <p:nvPicPr>
          <p:cNvPr id="6" name="Picture 5" descr="wave_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96600"/>
            <a:ext cx="12191695" cy="10667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Six opportunities, ranked by how confident we are in the number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2697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A8A86"/>
                </a:solidFill>
                <a:latin typeface="Arial"/>
              </a:rPr>
              <a:t>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874519"/>
            <a:ext cx="4343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A8A86"/>
                </a:solidFill>
                <a:latin typeface="Arial"/>
              </a:rP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874519"/>
            <a:ext cx="1874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A8A86"/>
                </a:solidFill>
                <a:latin typeface="Arial"/>
              </a:rPr>
              <a:t>Illustrative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1874519"/>
            <a:ext cx="18105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8A8A86"/>
                </a:solidFill>
                <a:latin typeface="Arial"/>
              </a:rPr>
              <a:t>Confidence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21991"/>
            <a:ext cx="11091672" cy="15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50007"/>
            <a:ext cx="26517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GB margin / product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50007"/>
            <a:ext cx="42976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9C9C4"/>
                </a:solidFill>
                <a:latin typeface="Arial"/>
              </a:rPr>
              <a:t>Diagnose &amp; close GB's margin gap vs. DE; separate US/CA cost-structure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350007"/>
            <a:ext cx="18288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987E5"/>
                </a:solidFill>
                <a:latin typeface="Arial"/>
              </a:rPr>
              <a:t>$4.6M (GB)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38360" y="2350007"/>
            <a:ext cx="1764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CA30C"/>
                </a:solidFill>
                <a:latin typeface="Arial"/>
              </a:rP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136391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191255"/>
            <a:ext cx="26517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Zero-value order audit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191255"/>
            <a:ext cx="42976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9C9C4"/>
                </a:solidFill>
                <a:latin typeface="Arial"/>
              </a:rPr>
              <a:t>Manually sample heavy near-zero-profit orders; fix root cause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91255"/>
            <a:ext cx="18288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987E5"/>
                </a:solidFill>
                <a:latin typeface="Arial"/>
              </a:rPr>
              <a:t>Cost reduction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3191255"/>
            <a:ext cx="1764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0CA30C"/>
                </a:solidFill>
                <a:latin typeface="Arial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77639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32503"/>
            <a:ext cx="26517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Nordic HV campaign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4032503"/>
            <a:ext cx="42976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9C9C4"/>
                </a:solidFill>
                <a:latin typeface="Arial"/>
              </a:rPr>
              <a:t>Basket-building push (bundling, merchandising) in NO/FI/SE/NL/DK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032503"/>
            <a:ext cx="18288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987E5"/>
                </a:solidFill>
                <a:latin typeface="Arial"/>
              </a:rPr>
              <a:t>~$5.8M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4032503"/>
            <a:ext cx="1764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95926"/>
                </a:solidFill>
                <a:latin typeface="Arial"/>
              </a:rPr>
              <a:t>Medium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18887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873751"/>
            <a:ext cx="26517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Loyalty / 2nd-purchase program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873751"/>
            <a:ext cx="42976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9C9C4"/>
                </a:solidFill>
                <a:latin typeface="Arial"/>
              </a:rPr>
              <a:t>Next-buy incentive targeting repeat frequency, not basket size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873751"/>
            <a:ext cx="18288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987E5"/>
                </a:solidFill>
                <a:latin typeface="Arial"/>
              </a:rPr>
              <a:t>Up to $53.7M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38360" y="4873751"/>
            <a:ext cx="1764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D95926"/>
                </a:solidFill>
                <a:latin typeface="Arial"/>
              </a:rPr>
              <a:t>Medium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660135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714999"/>
            <a:ext cx="265176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Free-shipping A/B 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5714999"/>
            <a:ext cx="429768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C9C9C4"/>
                </a:solidFill>
                <a:latin typeface="Arial"/>
              </a:rPr>
              <a:t>Test the spend threshold before any conversion investment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5714999"/>
            <a:ext cx="182880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987E5"/>
                </a:solidFill>
                <a:latin typeface="Arial"/>
              </a:rPr>
              <a:t>Up to $12.2M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8360" y="5714999"/>
            <a:ext cx="1764792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8A8A86"/>
                </a:solidFill>
                <a:latin typeface="Arial"/>
              </a:rPr>
              <a:t>Low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ave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2468880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3291840"/>
            <a:ext cx="1188720" cy="38100"/>
          </a:xfrm>
          <a:prstGeom prst="rect">
            <a:avLst/>
          </a:prstGeom>
          <a:solidFill>
            <a:srgbClr val="398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4747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3987E5"/>
                </a:solidFill>
                <a:latin typeface="Arial"/>
              </a:rPr>
              <a:t>Questions &amp; discussion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37490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C9C9C4"/>
                </a:solidFill>
                <a:latin typeface="Arial"/>
              </a:rPr>
              <a:t>Methodology, data caveats &amp; scenario math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Data window, definitions &amp; known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300">
                <a:solidFill>
                  <a:srgbClr val="FFFFFF"/>
                </a:solidFill>
                <a:latin typeface="Arial"/>
              </a:rPr>
              <a:t>Data window:  </a:t>
            </a:r>
            <a:r>
              <a:rPr sz="1300">
                <a:solidFill>
                  <a:srgbClr val="C9C9C4"/>
                </a:solidFill>
                <a:latin typeface="Arial"/>
              </a:rPr>
              <a:t>682,792 orders, 577,950 unique customers, Oct 14 2018 – Oct 30 2020. Last full 12 months used for headline figures: Oct 30 2019 – Oct 30 2020.</a:t>
            </a:r>
          </a:p>
          <a:p>
            <a:pPr>
              <a:spcBef>
                <a:spcPts val="1600"/>
              </a:spcBef>
            </a:pPr>
            <a:r>
              <a:rPr b="1" sz="1300">
                <a:solidFill>
                  <a:srgbClr val="FFFFFF"/>
                </a:solidFill>
                <a:latin typeface="Arial"/>
              </a:rPr>
              <a:t>Known gap:  </a:t>
            </a:r>
            <a:r>
              <a:rPr sz="1300">
                <a:solidFill>
                  <a:srgbClr val="C9C9C4"/>
                </a:solidFill>
                <a:latin typeface="Arial"/>
              </a:rPr>
              <a:t>Profit / profit margin is 100% missing for Oct–Dec 2018 (16,200 orders, ~2.4% of the dataset). Excluded from all profit-based analysis; flagged to the data team separately from Story 6's zero-value finding.</a:t>
            </a:r>
          </a:p>
          <a:p>
            <a:pPr>
              <a:spcBef>
                <a:spcPts val="1600"/>
              </a:spcBef>
            </a:pPr>
            <a:r>
              <a:rPr b="1" sz="1300">
                <a:solidFill>
                  <a:srgbClr val="FFFFFF"/>
                </a:solidFill>
                <a:latin typeface="Arial"/>
              </a:rPr>
              <a:t>High-value (HV) definition:  </a:t>
            </a:r>
            <a:r>
              <a:rPr sz="1300">
                <a:solidFill>
                  <a:srgbClr val="C9C9C4"/>
                </a:solidFill>
                <a:latin typeface="Arial"/>
              </a:rPr>
              <a:t>Top 10% of customers by lifetime spend, threshold ≥$1,202.</a:t>
            </a:r>
          </a:p>
          <a:p>
            <a:pPr>
              <a:spcBef>
                <a:spcPts val="1600"/>
              </a:spcBef>
            </a:pPr>
            <a:r>
              <a:rPr b="1" sz="1300">
                <a:solidFill>
                  <a:srgbClr val="FFFFFF"/>
                </a:solidFill>
                <a:latin typeface="Arial"/>
              </a:rPr>
              <a:t>Repeat / loyal definition:  </a:t>
            </a:r>
            <a:r>
              <a:rPr sz="1300">
                <a:solidFill>
                  <a:srgbClr val="C9C9C4"/>
                </a:solidFill>
                <a:latin typeface="Arial"/>
              </a:rPr>
              <a:t>Customers with 2 or more orders (14.2% of the base).</a:t>
            </a:r>
          </a:p>
          <a:p>
            <a:pPr>
              <a:spcBef>
                <a:spcPts val="1600"/>
              </a:spcBef>
            </a:pPr>
            <a:r>
              <a:rPr b="1" sz="1300">
                <a:solidFill>
                  <a:srgbClr val="FFFFFF"/>
                </a:solidFill>
                <a:latin typeface="Arial"/>
              </a:rPr>
              <a:t>Profit identity:  </a:t>
            </a:r>
            <a:r>
              <a:rPr sz="1300">
                <a:solidFill>
                  <a:srgbClr val="C9C9C4"/>
                </a:solidFill>
                <a:latin typeface="Arial"/>
              </a:rPr>
              <a:t>Profit = Total order value × Profit margin, verified exactly across the dataset. Margin is a flat rate applied to the whole order — not reduced directly by shipping cost, which is why shipping share predicts profit-per-order but not margin %.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987E5"/>
                </a:solidFill>
                <a:latin typeface="Arial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1672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 i="0">
                <a:solidFill>
                  <a:srgbClr val="FFFFFF"/>
                </a:solidFill>
                <a:latin typeface="Arial"/>
              </a:rPr>
              <a:t>Scenario math behind the illustrative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b="1" sz="1250">
                <a:solidFill>
                  <a:srgbClr val="FFFFFF"/>
                </a:solidFill>
                <a:latin typeface="Arial"/>
              </a:rPr>
              <a:t>Free shipping, $12.2M (unvalidated, pending A/B test)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C9C9C4"/>
                </a:solidFill>
                <a:latin typeface="Arial"/>
              </a:rPr>
              <a:t>20% of today's 228,450 paid-shipping orders converted to the free-shipping segment's avg. profit ($417.36 vs. $149.80, a $267.56/order uplift) → 45,690 orders × $267.56 = $12,224,816. Depends on an unconfirmed causal effect — see Story 2.</a:t>
            </a:r>
          </a:p>
          <a:p>
            <a:pPr>
              <a:spcBef>
                <a:spcPts val="1600"/>
              </a:spcBef>
            </a:pPr>
            <a:r>
              <a:rPr b="1" sz="1250">
                <a:solidFill>
                  <a:srgbClr val="FFFFFF"/>
                </a:solidFill>
                <a:latin typeface="Arial"/>
              </a:rPr>
              <a:t>Nordic HV campaign, $5.8M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C9C9C4"/>
                </a:solidFill>
                <a:latin typeface="Arial"/>
              </a:rPr>
              <a:t>NO/FI/SE/NL/DK each closed to their own GDP-expected HV rate → ~6,892 additional HV customers (weighted by each country's customer base), valued at the current HV-vs-average profit differential ($1,224 − $378 = $846/customer) → ~$5,830,580.</a:t>
            </a:r>
          </a:p>
          <a:p>
            <a:pPr>
              <a:spcBef>
                <a:spcPts val="1600"/>
              </a:spcBef>
            </a:pPr>
            <a:r>
              <a:rPr b="1" sz="1250">
                <a:solidFill>
                  <a:srgbClr val="FFFFFF"/>
                </a:solidFill>
                <a:latin typeface="Arial"/>
              </a:rPr>
              <a:t>Loyalty program, up to $53.7M (aggressive ceiling)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C9C9C4"/>
                </a:solidFill>
                <a:latin typeface="Arial"/>
              </a:rPr>
              <a:t>25% of the 495,909 one-time customers converted to the repeat-customer average lifetime profit ($749.7 vs. $316.4, a $433.30/customer uplift) → 123,977 customers × $433.30 = $53,719,342. Treat as a directional upper bound.</a:t>
            </a:r>
          </a:p>
          <a:p>
            <a:pPr>
              <a:spcBef>
                <a:spcPts val="1600"/>
              </a:spcBef>
            </a:pPr>
            <a:r>
              <a:rPr b="1" sz="1250">
                <a:solidFill>
                  <a:srgbClr val="FFFFFF"/>
                </a:solidFill>
                <a:latin typeface="Arial"/>
              </a:rPr>
              <a:t>GB margin gap, $4,603,141 / +22.2% (fully diagnosed, not a scenario)</a:t>
            </a:r>
          </a:p>
          <a:p>
            <a:pPr>
              <a:spcBef>
                <a:spcPts val="200"/>
              </a:spcBef>
            </a:pPr>
            <a:r>
              <a:rPr sz="1150">
                <a:solidFill>
                  <a:srgbClr val="C9C9C4"/>
                </a:solidFill>
                <a:latin typeface="Arial"/>
              </a:rPr>
              <a:t>GB's actual revenue re-priced at DE's actual margin rate, holding GB's order volume constant.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73952"/>
            <a:ext cx="11091672" cy="9525"/>
          </a:xfrm>
          <a:prstGeom prst="rect">
            <a:avLst/>
          </a:prstGeom>
          <a:solidFill>
            <a:srgbClr val="3031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8A8A86"/>
                </a:solidFill>
                <a:latin typeface="Arial"/>
              </a:rPr>
              <a:t>VARDANE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11512" y="6537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A8A86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